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ed Hat Display SemiBold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SemiBold-bold.fntdata"/><Relationship Id="rId22" Type="http://schemas.openxmlformats.org/officeDocument/2006/relationships/font" Target="fonts/RedHatDisplaySemiBold-boldItalic.fntdata"/><Relationship Id="rId21" Type="http://schemas.openxmlformats.org/officeDocument/2006/relationships/font" Target="fonts/RedHatDisplaySemiBold-italic.fntdata"/><Relationship Id="rId24" Type="http://schemas.openxmlformats.org/officeDocument/2006/relationships/font" Target="fonts/RedHatDisplayMedium-bold.fntdata"/><Relationship Id="rId23" Type="http://schemas.openxmlformats.org/officeDocument/2006/relationships/font" Target="fonts/RedHatDisplay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Medium-boldItalic.fntdata"/><Relationship Id="rId25" Type="http://schemas.openxmlformats.org/officeDocument/2006/relationships/font" Target="fonts/RedHatDisplayMedium-italic.fntdata"/><Relationship Id="rId28" Type="http://schemas.openxmlformats.org/officeDocument/2006/relationships/font" Target="fonts/RedHatDisplay-bold.fntdata"/><Relationship Id="rId27" Type="http://schemas.openxmlformats.org/officeDocument/2006/relationships/font" Target="fonts/RedHat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edHat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edHatDispl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edHatDisplay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efbbd61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aefbbd61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efbbd6155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aefbbd6155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efbbd6155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efbbd6155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efbbd6155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efbbd6155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efbbd6155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aefbbd6155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efbbd6155_0_1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aefbbd6155_0_1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efbbd6155_0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efbbd6155_0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efbbd6155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efbbd6155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efbbd6155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efbbd6155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efbbd6155_0_2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efbbd6155_0_2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efbbd6155_0_2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aefbbd6155_0_2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efbbd6155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efbbd6155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efbbd6155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aefbbd6155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28600" y="1814575"/>
            <a:ext cx="5468700" cy="2007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Transaction Failure &amp; Security Gaps</a:t>
            </a:r>
            <a:endParaRPr b="1" sz="4800"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228600" y="4018325"/>
            <a:ext cx="35040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 </a:t>
            </a:r>
            <a:endParaRPr b="1"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Mayowa Adeboye</a:t>
            </a:r>
            <a:endParaRPr b="1"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50" name="Google Shape;550;p43" title="My Picture 2.jpg"/>
          <p:cNvPicPr preferRelativeResize="0"/>
          <p:nvPr/>
        </p:nvPicPr>
        <p:blipFill rotWithShape="1">
          <a:blip r:embed="rId3">
            <a:alphaModFix/>
          </a:blip>
          <a:srcRect b="3559" l="0" r="0" t="-3560"/>
          <a:stretch/>
        </p:blipFill>
        <p:spPr>
          <a:xfrm>
            <a:off x="6571450" y="2961925"/>
            <a:ext cx="2465399" cy="20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Logo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6" name="Google Shape;556;p44"/>
          <p:cNvSpPr txBox="1"/>
          <p:nvPr>
            <p:ph type="title"/>
          </p:nvPr>
        </p:nvSpPr>
        <p:spPr>
          <a:xfrm>
            <a:off x="1366801" y="236400"/>
            <a:ext cx="3205200" cy="101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Problem Summary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557" name="Google Shape;557;p44"/>
          <p:cNvSpPr txBox="1"/>
          <p:nvPr/>
        </p:nvSpPr>
        <p:spPr>
          <a:xfrm>
            <a:off x="1482325" y="1252200"/>
            <a:ext cx="71616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Customer Support team reports a flood of complaints regarding transfer failures.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Risk Department has flagged alarming financial discrepancies.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MD needs an urgent analysis to diagnose the root cause of failing transactions and security gaps.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Overall approval rates have dropped significantly sim 20% failure rate).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 txBox="1"/>
          <p:nvPr>
            <p:ph type="title"/>
          </p:nvPr>
        </p:nvSpPr>
        <p:spPr>
          <a:xfrm>
            <a:off x="1392600" y="228600"/>
            <a:ext cx="3205200" cy="101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Objective of the Analysis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63" name="Google Shape;563;p45"/>
          <p:cNvSpPr txBox="1"/>
          <p:nvPr/>
        </p:nvSpPr>
        <p:spPr>
          <a:xfrm>
            <a:off x="1464475" y="1500200"/>
            <a:ext cx="64830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Rejections: Is the failure due to a Banking Error or Poor Network Connectivity?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Fraud Prevention: Is our system flagging fraud correctly but failing to block transactions?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Network ROI: Is the premium investment in "5G Network Slicing" justified by performance gains?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Resource Focus: Should we focus app development budget on the Mobile App or Desktop Portal?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"/>
          <p:cNvSpPr txBox="1"/>
          <p:nvPr>
            <p:ph type="title"/>
          </p:nvPr>
        </p:nvSpPr>
        <p:spPr>
          <a:xfrm>
            <a:off x="1392600" y="375050"/>
            <a:ext cx="32052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DATA OVERVIEW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69" name="Google Shape;569;p46"/>
          <p:cNvSpPr txBox="1"/>
          <p:nvPr/>
        </p:nvSpPr>
        <p:spPr>
          <a:xfrm>
            <a:off x="1464475" y="1125150"/>
            <a:ext cx="5338200" cy="3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Source: Raw dataset of the last batch of transaction logs.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Volume: Approximately 40,000 transactions analyzed.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Columns Used: Status &amp; Security, Performance, Investment.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descr="Data Analysis for Business and Finance Concept (Provided by Getty Images)" id="570" name="Google Shape;5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825" y="122725"/>
            <a:ext cx="2562401" cy="167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7"/>
          <p:cNvSpPr txBox="1"/>
          <p:nvPr>
            <p:ph type="title"/>
          </p:nvPr>
        </p:nvSpPr>
        <p:spPr>
          <a:xfrm>
            <a:off x="228600" y="228602"/>
            <a:ext cx="64803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 Metrics (KPIs)</a:t>
            </a:r>
            <a:endParaRPr sz="3000"/>
          </a:p>
        </p:txBody>
      </p:sp>
      <p:sp>
        <p:nvSpPr>
          <p:cNvPr id="576" name="Google Shape;576;p47"/>
          <p:cNvSpPr txBox="1"/>
          <p:nvPr/>
        </p:nvSpPr>
        <p:spPr>
          <a:xfrm>
            <a:off x="285750" y="1035850"/>
            <a:ext cx="73581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Overall Transaction Failure Rate: 20%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Failed Fraud Block Rate: 80.5% (CRITICAL SECURITY FAILURE)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Total Financial Loss from Unblocked Fraud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8"/>
          <p:cNvSpPr txBox="1"/>
          <p:nvPr>
            <p:ph type="title"/>
          </p:nvPr>
        </p:nvSpPr>
        <p:spPr>
          <a:xfrm>
            <a:off x="1392600" y="375050"/>
            <a:ext cx="4358100" cy="101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Dashboard Insight 1: The Critical Fraud Gap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82" name="Google Shape;582;p48"/>
          <p:cNvSpPr txBox="1"/>
          <p:nvPr/>
        </p:nvSpPr>
        <p:spPr>
          <a:xfrm>
            <a:off x="1464475" y="1500200"/>
            <a:ext cx="5338200" cy="3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80.5% of transactions correctly flagged as fraudulent were successfully processed by the system.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Fraud Detection System works, but the Blocking System Fails.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is the most urgent issue—a failure in the real-time API or business logic layer to execute the block command.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"/>
          <p:cNvSpPr txBox="1"/>
          <p:nvPr>
            <p:ph type="title"/>
          </p:nvPr>
        </p:nvSpPr>
        <p:spPr>
          <a:xfrm>
            <a:off x="1392600" y="228600"/>
            <a:ext cx="4768800" cy="1431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Dashboard Insight 2: Customer Rejection Root Cause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88" name="Google Shape;588;p49"/>
          <p:cNvSpPr txBox="1"/>
          <p:nvPr/>
        </p:nvSpPr>
        <p:spPr>
          <a:xfrm>
            <a:off x="1464475" y="1696650"/>
            <a:ext cx="62508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Failed transfers are caused by poor network connectivity (high Latency).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Average Latency for Failed transactions 76.85ms is virtually identical to Success transactions 76.75ms.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customer rejection problem is NOT network-related. It is internal to the Core Banking Logic (e.g., faulty funds validation, PIN error handling).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0"/>
          <p:cNvSpPr txBox="1"/>
          <p:nvPr>
            <p:ph type="title"/>
          </p:nvPr>
        </p:nvSpPr>
        <p:spPr>
          <a:xfrm>
            <a:off x="1392600" y="228600"/>
            <a:ext cx="4429500" cy="101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Dashboard Insight 3: 5G Network Slicing ROI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94" name="Google Shape;594;p50"/>
          <p:cNvSpPr txBox="1"/>
          <p:nvPr/>
        </p:nvSpPr>
        <p:spPr>
          <a:xfrm>
            <a:off x="1464475" y="1244400"/>
            <a:ext cx="6786600" cy="3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Speed: The latency difference between all slices is marginal &lt;1ms. No major speed benefit.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Reliability: We must compare the Transaction Failure Rate % by slice.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Conclusion: Based on minimal speed gains, the premium is likely unjustified unless a significant reliability benefit is proven.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1"/>
          <p:cNvSpPr txBox="1"/>
          <p:nvPr>
            <p:ph type="title"/>
          </p:nvPr>
        </p:nvSpPr>
        <p:spPr>
          <a:xfrm>
            <a:off x="2625325" y="457200"/>
            <a:ext cx="6290100" cy="792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Deep Dive: App Development Allocation</a:t>
            </a:r>
            <a:endParaRPr sz="3000"/>
          </a:p>
        </p:txBody>
      </p:sp>
      <p:sp>
        <p:nvSpPr>
          <p:cNvPr id="600" name="Google Shape;600;p51"/>
          <p:cNvSpPr txBox="1"/>
          <p:nvPr>
            <p:ph idx="1" type="subTitle"/>
          </p:nvPr>
        </p:nvSpPr>
        <p:spPr>
          <a:xfrm>
            <a:off x="2018100" y="1589475"/>
            <a:ext cx="56973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Problem: Where should we allocate the limited budget for Q1 app updates (Mobile vs. Desktop)?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Decision Metric: Focus on the platform with the highest Transaction Failure Rate %.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Action: Analysis of the failure rates by Device Used will dictate a clear, focused budget recommendation.</a:t>
            </a:r>
            <a:endParaRPr sz="1800"/>
          </a:p>
        </p:txBody>
      </p:sp>
      <p:pic>
        <p:nvPicPr>
          <p:cNvPr descr="Having a life changing experience (Provided by Getty Images)" id="601" name="Google Shape;6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125" y="880513"/>
            <a:ext cx="1713301" cy="184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type="title"/>
          </p:nvPr>
        </p:nvSpPr>
        <p:spPr>
          <a:xfrm>
            <a:off x="1392600" y="228600"/>
            <a:ext cx="44295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Summary of Findings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07" name="Google Shape;607;p52"/>
          <p:cNvSpPr txBox="1"/>
          <p:nvPr/>
        </p:nvSpPr>
        <p:spPr>
          <a:xfrm>
            <a:off x="1464475" y="1244400"/>
            <a:ext cx="67866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Security: 80.5% of detected fraud is not blocked, leading to significant financial loss.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Performance: Customer rejections are due to a Core Banking Error, not network latency.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Strategy: The premium paid for 5G network slices is providing negligible ROI based on speed.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Investment: Budget focus must be targeted to the device platform (Mobile or Desktop) with the highest failure rate.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3"/>
          <p:cNvSpPr txBox="1"/>
          <p:nvPr>
            <p:ph type="title"/>
          </p:nvPr>
        </p:nvSpPr>
        <p:spPr>
          <a:xfrm>
            <a:off x="1392600" y="228600"/>
            <a:ext cx="44295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Recommendations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13" name="Google Shape;613;p53"/>
          <p:cNvSpPr txBox="1"/>
          <p:nvPr/>
        </p:nvSpPr>
        <p:spPr>
          <a:xfrm>
            <a:off x="1464475" y="1107275"/>
            <a:ext cx="57507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Security (Priority 1): Immediate halt and fix for the Fraud Blocking API to stop financial losses.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(Priority 2): Debug and audit the Core Banking Logic to improve customer approval rates.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Strategy : Re-evaluate and potentially re-negotiate 5G Slice contracts and allocate App Development Budget based strictly on failure rates.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descr="a red and white circle with a hand giving a thumbs up and the words recommended (Provided by Tenor)" id="614" name="Google Shape;61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0759" y="89300"/>
            <a:ext cx="1849617" cy="17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4"/>
          <p:cNvSpPr txBox="1"/>
          <p:nvPr>
            <p:ph type="title"/>
          </p:nvPr>
        </p:nvSpPr>
        <p:spPr>
          <a:xfrm>
            <a:off x="1392600" y="228600"/>
            <a:ext cx="44295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Recommendations 2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20" name="Google Shape;620;p54"/>
          <p:cNvSpPr txBox="1"/>
          <p:nvPr/>
        </p:nvSpPr>
        <p:spPr>
          <a:xfrm>
            <a:off x="1464475" y="964400"/>
            <a:ext cx="67866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Next Steps: Summary of the immediate actions required from the CTO (Security) and Head of Core Banking (Performance).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Discussion: Open the floor for strategic questions regarding risk tolerance and investment priorities.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5"/>
          <p:cNvSpPr txBox="1"/>
          <p:nvPr>
            <p:ph type="title"/>
          </p:nvPr>
        </p:nvSpPr>
        <p:spPr>
          <a:xfrm>
            <a:off x="3948800" y="2571750"/>
            <a:ext cx="4966500" cy="672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Thank You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